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2487168"/>
            <a:ext cx="12191695" cy="36576"/>
          </a:xfrm>
          <a:prstGeom prst="rect">
            <a:avLst/>
          </a:prstGeom>
          <a:solidFill>
            <a:srgbClr val="00A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2542032"/>
            <a:ext cx="12191695" cy="36576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■ CVS HEALTH · UM ×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A8C8"/>
                </a:solidFill>
                <a:latin typeface="Calibri"/>
              </a:rPr>
              <a:t>UTILIZATION MANAGEMENT ×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From unstructured</a:t>
            </a:r>
          </a:p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clinical documents</a:t>
            </a:r>
          </a:p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to AI-assisted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FD6DF"/>
                </a:solidFill>
                <a:latin typeface="Calibri"/>
              </a:rPr>
              <a:t>The technology is solvable. The human interface is the real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09AA8"/>
                </a:solidFill>
                <a:latin typeface="Calibri"/>
              </a:rPr>
              <a:t>CDST · Clinical Decision Support Tool   ·   Inpatient · SNF · Spine · Pre-cert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Why UM,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06A77"/>
                </a:solidFill>
                <a:latin typeface="Calibri"/>
              </a:rPr>
              <a:t>UM ensures the right care, at the right time, in the right setting — using evidence-based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697480" cy="1371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73152" cy="13716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$250M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Annual admin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697480" cy="1371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828800"/>
            <a:ext cx="73152" cy="13716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9933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2.26M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Cases reviewed / 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2697480" cy="1371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73152" cy="137160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9933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5599"/>
                </a:solidFill>
                <a:latin typeface="Calibri"/>
              </a:rPr>
              <a:t>20 – 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974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Per case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828800"/>
            <a:ext cx="2697480" cy="1371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828800"/>
            <a:ext cx="73152" cy="137160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9933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5599"/>
                </a:solidFill>
                <a:latin typeface="Calibri"/>
              </a:rPr>
              <a:t>3–50 × 10–200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6974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Docs × pages / case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20440"/>
            <a:ext cx="11201400" cy="26060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02920" y="3520440"/>
            <a:ext cx="109728" cy="260604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PRESSURE STACKING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6908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22833"/>
                </a:solidFill>
                <a:latin typeface="Calibri"/>
              </a:rPr>
              <a:t>•  </a:t>
            </a:r>
            <a:r>
              <a:rPr sz="1300" b="1">
                <a:solidFill>
                  <a:srgbClr val="222833"/>
                </a:solidFill>
                <a:latin typeface="Calibri"/>
              </a:rPr>
              <a:t>Faxed PDFs, often not searchable — </a:t>
            </a:r>
            <a:r>
              <a:rPr sz="1300">
                <a:solidFill>
                  <a:srgbClr val="222833"/>
                </a:solidFill>
                <a:latin typeface="Calibri"/>
              </a:rPr>
              <a:t>no copy/paste, no cross-doc search natively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22833"/>
                </a:solidFill>
                <a:latin typeface="Calibri"/>
              </a:rPr>
              <a:t>•  </a:t>
            </a:r>
            <a:r>
              <a:rPr sz="1300" b="1">
                <a:solidFill>
                  <a:srgbClr val="222833"/>
                </a:solidFill>
                <a:latin typeface="Calibri"/>
              </a:rPr>
              <a:t>CMS 2026 Final Rule — </a:t>
            </a:r>
            <a:r>
              <a:rPr sz="1300">
                <a:solidFill>
                  <a:srgbClr val="222833"/>
                </a:solidFill>
                <a:latin typeface="Calibri"/>
              </a:rPr>
              <a:t>Two-Midnight alignment, FHIR PA APIs, 72hr urgent / 7-day standard decisions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22833"/>
                </a:solidFill>
                <a:latin typeface="Calibri"/>
              </a:rPr>
              <a:t>•  </a:t>
            </a:r>
            <a:r>
              <a:rPr sz="1300" b="1">
                <a:solidFill>
                  <a:srgbClr val="222833"/>
                </a:solidFill>
                <a:latin typeface="Calibri"/>
              </a:rPr>
              <a:t>Rising Medicare cost trend — </a:t>
            </a:r>
            <a:r>
              <a:rPr sz="1300">
                <a:solidFill>
                  <a:srgbClr val="222833"/>
                </a:solidFill>
                <a:latin typeface="Calibri"/>
              </a:rPr>
              <a:t>volume up while admin budget is already strained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22833"/>
                </a:solidFill>
                <a:latin typeface="Calibri"/>
              </a:rPr>
              <a:t>•  </a:t>
            </a:r>
            <a:r>
              <a:rPr sz="1300" b="1">
                <a:solidFill>
                  <a:srgbClr val="222833"/>
                </a:solidFill>
                <a:latin typeface="Calibri"/>
              </a:rPr>
              <a:t>Nurses working overtime — </a:t>
            </a:r>
            <a:r>
              <a:rPr sz="1300">
                <a:solidFill>
                  <a:srgbClr val="222833"/>
                </a:solidFill>
                <a:latin typeface="Calibri"/>
              </a:rPr>
              <a:t>majority of work is concurrent review; burnout is 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02 · WHERE TIME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The Clinical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06A77"/>
                </a:solidFill>
                <a:latin typeface="Calibri"/>
              </a:rPr>
              <a:t>Open MedCompass → open 3–50 docs one by one → scan 10–200 pages each → transcribe into a case note.</a:t>
            </a:r>
          </a:p>
        </p:txBody>
      </p:sp>
      <p:sp>
        <p:nvSpPr>
          <p:cNvPr id="7" name="Chevron 6"/>
          <p:cNvSpPr/>
          <p:nvPr/>
        </p:nvSpPr>
        <p:spPr>
          <a:xfrm>
            <a:off x="502920" y="2011680"/>
            <a:ext cx="2743200" cy="1371600"/>
          </a:xfrm>
          <a:prstGeom prst="chevron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9DFF0"/>
                </a:solidFill>
              </a:rPr>
              <a:t>OPEN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MedCompass</a:t>
            </a:r>
          </a:p>
        </p:txBody>
      </p:sp>
      <p:sp>
        <p:nvSpPr>
          <p:cNvPr id="8" name="Chevron 7"/>
          <p:cNvSpPr/>
          <p:nvPr/>
        </p:nvSpPr>
        <p:spPr>
          <a:xfrm>
            <a:off x="3364992" y="2011680"/>
            <a:ext cx="2743200" cy="1371600"/>
          </a:xfrm>
          <a:prstGeom prst="chevron">
            <a:avLst/>
          </a:prstGeom>
          <a:solidFill>
            <a:srgbClr val="00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9DFF0"/>
                </a:solidFill>
              </a:rPr>
              <a:t>DOWNLOAD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Docs one-by-one</a:t>
            </a:r>
          </a:p>
        </p:txBody>
      </p:sp>
      <p:sp>
        <p:nvSpPr>
          <p:cNvPr id="9" name="Chevron 8"/>
          <p:cNvSpPr/>
          <p:nvPr/>
        </p:nvSpPr>
        <p:spPr>
          <a:xfrm>
            <a:off x="6227064" y="2011680"/>
            <a:ext cx="2743200" cy="1371600"/>
          </a:xfrm>
          <a:prstGeom prst="chevron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CCCC"/>
                </a:solidFill>
              </a:rPr>
              <a:t>SCAN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Often unsearchable</a:t>
            </a:r>
          </a:p>
        </p:txBody>
      </p:sp>
      <p:sp>
        <p:nvSpPr>
          <p:cNvPr id="10" name="Chevron 9"/>
          <p:cNvSpPr/>
          <p:nvPr/>
        </p:nvSpPr>
        <p:spPr>
          <a:xfrm>
            <a:off x="9089136" y="2011680"/>
            <a:ext cx="2743200" cy="1371600"/>
          </a:xfrm>
          <a:prstGeom prst="chevron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CCCC"/>
                </a:solidFill>
              </a:rPr>
              <a:t>TRANSCRIBE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Into case note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0"/>
            <a:ext cx="11201400" cy="100584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11201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The hardest part isn't "the AI".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00A8C8"/>
                </a:solidFill>
                <a:latin typeface="Calibri"/>
              </a:rPr>
              <a:t>It's the workflow, the interface, the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29200"/>
            <a:ext cx="11201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22833"/>
                </a:solidFill>
                <a:latin typeface="Calibri"/>
              </a:rPr>
              <a:t>•  Documents have identical names; must be downloaded individually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22833"/>
                </a:solidFill>
                <a:latin typeface="Calibri"/>
              </a:rPr>
              <a:t>•  Many PDFs aren't searchable — no copy/paste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22833"/>
                </a:solidFill>
                <a:latin typeface="Calibri"/>
              </a:rPr>
              <a:t>•  Nurses re-read the same content across docs to assemble one patient picture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03 ·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CDST — A Co-Pilot for Nurses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06A77"/>
                </a:solidFill>
                <a:latin typeface="Calibri"/>
              </a:rPr>
              <a:t>Turn unstructured clinical documents into an AI summary the nurse validates instead of transcribes.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201400" cy="420624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11018520" cy="320040"/>
          </a:xfrm>
          <a:prstGeom prst="roundRect">
            <a:avLst/>
          </a:prstGeom>
          <a:solidFill>
            <a:srgbClr val="2A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04088" y="1874520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05256" y="1874520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06424" y="1874520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600200" y="1828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FD6DF"/>
                </a:solidFill>
                <a:latin typeface="Calibri"/>
              </a:rPr>
              <a:t>CDST · Case #251027207666 · Smith, J. · Acute 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51206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5599"/>
                </a:solidFill>
                <a:latin typeface="Calibri"/>
              </a:rPr>
              <a:t>📄  Document Viewer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51760"/>
            <a:ext cx="4846320" cy="256032"/>
          </a:xfrm>
          <a:prstGeom prst="round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688336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■  ED Notes · 12 pages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44368"/>
            <a:ext cx="4846320" cy="256032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298094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■  H&amp;P · 8 pages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36976"/>
            <a:ext cx="4846320" cy="256032"/>
          </a:xfrm>
          <a:prstGeom prst="round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3273552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■  Imaging Report · 3 pages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29584"/>
            <a:ext cx="4846320" cy="256032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■  Labs · 22 pages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22192"/>
            <a:ext cx="4846320" cy="256032"/>
          </a:xfrm>
          <a:prstGeom prst="round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3858768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■  Cardiology Consult · 4 pages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03520"/>
            <a:ext cx="484632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Calibri"/>
              </a:rPr>
              <a:t>🔍  Search across all documents...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2194560"/>
            <a:ext cx="56692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35040" y="22860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🤖  AI Clinical 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2651760"/>
            <a:ext cx="5394960" cy="6400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035040" y="2651760"/>
            <a:ext cx="54864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72200" y="26974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HPI / 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9077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833"/>
                </a:solidFill>
                <a:latin typeface="Calibri"/>
              </a:rPr>
              <a:t>65yo M, SOB x3 days, fever to 101.4°F...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26974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06A77"/>
                </a:solidFill>
                <a:latin typeface="Calibri"/>
              </a:rPr>
              <a:t>👍  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3364992"/>
            <a:ext cx="5394960" cy="6400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035040" y="3364992"/>
            <a:ext cx="54864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72200" y="341071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ED 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6210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833"/>
                </a:solidFill>
                <a:latin typeface="Calibri"/>
              </a:rPr>
              <a:t>Vitals: BP 142/88, HR 105, SpO2 88% on RA...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341071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06A77"/>
                </a:solidFill>
                <a:latin typeface="Calibri"/>
              </a:rPr>
              <a:t>👍  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4078224"/>
            <a:ext cx="5394960" cy="6400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035040" y="4078224"/>
            <a:ext cx="54864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72200" y="4123944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Pertinent PMH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33425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833"/>
                </a:solidFill>
                <a:latin typeface="Calibri"/>
              </a:rPr>
              <a:t>HTN, T2DM, COPD on home O2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412394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06A77"/>
                </a:solidFill>
                <a:latin typeface="Calibri"/>
              </a:rPr>
              <a:t>👍  👎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4791456"/>
            <a:ext cx="5394960" cy="6400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035040" y="4791456"/>
            <a:ext cx="54864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172200" y="4837176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Clinical 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0474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833"/>
                </a:solidFill>
                <a:latin typeface="Calibri"/>
              </a:rPr>
              <a:t>Pneumonia, RLL infiltrate on CXR. Sepsis criteria met...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48371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06A77"/>
                </a:solidFill>
                <a:latin typeface="Calibri"/>
              </a:rPr>
              <a:t>👍  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08076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1">
                <a:solidFill>
                  <a:srgbClr val="141822"/>
                </a:solidFill>
                <a:latin typeface="Calibri"/>
              </a:rPr>
              <a:t>The nurse owns the final answer. AI accelerates; it does not decide.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04 ·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Three Pillars, One Co-Pilot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776472" cy="4389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776472" cy="73152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3776472" cy="18288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3776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PRE-CERT / 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20"/>
            <a:ext cx="3776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350K+ / 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833"/>
                </a:solidFill>
                <a:latin typeface="Calibri"/>
              </a:rPr>
              <a:t>By procedure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1800"/>
            <a:ext cx="3227832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77240" y="2971800"/>
            <a:ext cx="54864" cy="41148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Spine CDST ·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3227832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77240" y="3474720"/>
            <a:ext cx="54864" cy="41148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Pre-cert AI layer · in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3227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06A77"/>
                </a:solidFill>
                <a:latin typeface="Calibri"/>
              </a:rPr>
              <a:t>Lines of Business: Medicare · Commercial · Medicaid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1463040"/>
            <a:ext cx="3776472" cy="4389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4325112" y="1463040"/>
            <a:ext cx="3776472" cy="73152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325112" y="2011680"/>
            <a:ext cx="3776472" cy="1828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25112" y="1627632"/>
            <a:ext cx="3776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CONCURRENT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1874520"/>
            <a:ext cx="3776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1.2M+ / 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2423160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833"/>
                </a:solidFill>
                <a:latin typeface="Calibri"/>
              </a:rPr>
              <a:t>Largest volume · Inpatient Acute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9432" y="2971800"/>
            <a:ext cx="3227832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599432" y="2971800"/>
            <a:ext cx="54864" cy="4114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36592" y="3063240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Medicare · scaled May '25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9432" y="3474720"/>
            <a:ext cx="3227832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99432" y="3474720"/>
            <a:ext cx="54864" cy="4114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36592" y="3566160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Commercial · launched Aug '25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5394960"/>
            <a:ext cx="3227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06A77"/>
                </a:solidFill>
                <a:latin typeface="Calibri"/>
              </a:rPr>
              <a:t>Lines of Business: Medicare · Commercial · Medicaid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7304" y="1463040"/>
            <a:ext cx="3776472" cy="4389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147304" y="1463040"/>
            <a:ext cx="3776472" cy="731520"/>
          </a:xfrm>
          <a:prstGeom prst="round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147304" y="2011680"/>
            <a:ext cx="3776472" cy="182880"/>
          </a:xfrm>
          <a:prstGeom prst="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147304" y="1627632"/>
            <a:ext cx="3776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POST-ACUTE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7304" y="1874520"/>
            <a:ext cx="3776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SNF · LTAC · Rehab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2423160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833"/>
                </a:solidFill>
                <a:latin typeface="Calibri"/>
              </a:rPr>
              <a:t>Across all post-acute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21624" y="2971800"/>
            <a:ext cx="3227832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421624" y="2971800"/>
            <a:ext cx="54864" cy="411480"/>
          </a:xfrm>
          <a:prstGeom prst="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558784" y="3063240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SNF CDA+ · live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21624" y="3474720"/>
            <a:ext cx="3227832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421624" y="3474720"/>
            <a:ext cx="54864" cy="411480"/>
          </a:xfrm>
          <a:prstGeom prst="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558784" y="3566160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SNF CDST + post-acute summarization · next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1624" y="5394960"/>
            <a:ext cx="3227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06A77"/>
                </a:solidFill>
                <a:latin typeface="Calibri"/>
              </a:rPr>
              <a:t>Lines of Business: Medicare · Commercial · Medicaid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12648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1822"/>
                </a:solidFill>
                <a:latin typeface="Calibri"/>
              </a:rPr>
              <a:t>Same co-pilot principle, expanding scope.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05 · RESULTS TO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Why It's Working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97480" cy="12801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28016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Adoption (Acute IP)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25880"/>
            <a:ext cx="2697480" cy="12801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73152" cy="128016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20440" y="149047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5599"/>
                </a:solidFill>
                <a:latin typeface="Calibri"/>
              </a:rPr>
              <a:t>658K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Reviews since Mar '25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2697480" cy="12801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73152" cy="128016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5080" y="149047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5599"/>
                </a:solidFill>
                <a:latin typeface="Calibri"/>
              </a:rPr>
              <a:t>15–20%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Time-per-review 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325880"/>
            <a:ext cx="2697480" cy="12801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06840" y="1325880"/>
            <a:ext cx="73152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89720" y="149047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8B57"/>
                </a:solidFill>
                <a:latin typeface="Calibri"/>
              </a:rPr>
              <a:t>$16M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945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SAI booked · 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43200"/>
            <a:ext cx="2697480" cy="12801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2920" y="2743200"/>
            <a:ext cx="73152" cy="128016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" y="29077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5.5 → 8–10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118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Min saved (now → EOY)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2743200"/>
            <a:ext cx="2697480" cy="12801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337560" y="2743200"/>
            <a:ext cx="73152" cy="128016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520440" y="29077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5599"/>
                </a:solidFill>
                <a:latin typeface="Calibri"/>
              </a:rPr>
              <a:t>70K+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118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Reviews / month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743200"/>
            <a:ext cx="2697480" cy="12801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172200" y="2743200"/>
            <a:ext cx="73152" cy="128016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55080" y="29077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5599"/>
                </a:solidFill>
                <a:latin typeface="Calibri"/>
              </a:rPr>
              <a:t>2.2K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6118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Non-MN cases flagged / yr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2743200"/>
            <a:ext cx="2697480" cy="12801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006840" y="2743200"/>
            <a:ext cx="73152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89720" y="2907792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8B57"/>
                </a:solidFill>
                <a:latin typeface="Calibri"/>
              </a:rPr>
              <a:t>0.1%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6118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In-app negative feedback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297680"/>
            <a:ext cx="5532120" cy="178308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31520" y="443484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0A8C8"/>
                </a:solidFill>
                <a:latin typeface="Calibri"/>
              </a:rPr>
              <a:t>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48056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30 attachments on 1 case. Thank goodness for this tool.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7150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A8C8"/>
                </a:solidFill>
                <a:latin typeface="Calibri"/>
              </a:rPr>
              <a:t>— Nurse · IP Medicare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4297680"/>
            <a:ext cx="5532120" cy="178308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0" y="443484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0A8C8"/>
                </a:solidFill>
                <a:latin typeface="Calibri"/>
              </a:rPr>
              <a:t>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48056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Did a great job pulling clinical from the doc, even though the fax was not clear. Terrible fax — pretty well.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7150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A8C8"/>
                </a:solidFill>
                <a:latin typeface="Calibri"/>
              </a:rPr>
              <a:t>— Nurse · IP Commercial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06 · THE REAL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It Isn't Technical. It's Human.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06A77"/>
                </a:solidFill>
                <a:latin typeface="Calibri"/>
              </a:rPr>
              <a:t>Adoption + trust beat raw model accuracy. AI is recall-biased — nurses do the final edit. Edit patterns are the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27432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532120" cy="50292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5532120" cy="18288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CARE DAYS · NARRATIVE over-generation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Subjective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523744"/>
            <a:ext cx="2752344" cy="18288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4064" y="24688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5599"/>
                </a:solidFill>
                <a:latin typeface="Calibri"/>
              </a:rPr>
              <a:t>17.2%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Diet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862072"/>
            <a:ext cx="1840229" cy="18288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171950" y="280720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5599"/>
                </a:solidFill>
                <a:latin typeface="Calibri"/>
              </a:rPr>
              <a:t>11.5%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4553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Exams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3200400"/>
            <a:ext cx="1648206" cy="18288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979926" y="314553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5599"/>
                </a:solidFill>
                <a:latin typeface="Calibri"/>
              </a:rPr>
              <a:t>10.3%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8386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Respiratory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38728"/>
            <a:ext cx="1472184" cy="18288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803904" y="348386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5599"/>
                </a:solidFill>
                <a:latin typeface="Calibri"/>
              </a:rPr>
              <a:t>9.2%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2219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EKG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3877056"/>
            <a:ext cx="1424178" cy="18288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755898" y="382219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5599"/>
                </a:solidFill>
                <a:latin typeface="Calibri"/>
              </a:rPr>
              <a:t>8.9%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005599"/>
                </a:solidFill>
                <a:latin typeface="Calibri"/>
              </a:rPr>
              <a:t>Tune for ASSERTIVENESS — strong-evidence sections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783080"/>
            <a:ext cx="5532120" cy="27432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172200" y="1783080"/>
            <a:ext cx="5532120" cy="50292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03120"/>
            <a:ext cx="5532120" cy="1828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172200" y="1874519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ED SUMMARY · OBJECTIVE BULK over-generation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6888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Vitals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2523744"/>
            <a:ext cx="2736342" cy="18288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737341" y="24688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17.1%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80720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Labs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2862072"/>
            <a:ext cx="2704338" cy="18288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705337" y="280720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16.9%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14553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Imaging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3200400"/>
            <a:ext cx="2608326" cy="18288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609325" y="314553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16.3%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48386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Therapy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79" y="3538728"/>
            <a:ext cx="2240280" cy="18288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241279" y="348386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14.0%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82219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Exams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3877056"/>
            <a:ext cx="2192274" cy="18288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193273" y="382219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13.7%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1605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CC0000"/>
                </a:solidFill>
                <a:latin typeface="Calibri"/>
              </a:rPr>
              <a:t>Tune for SELECTIVITY — only abnormal / critical values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754880"/>
            <a:ext cx="2706624" cy="137160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85800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A8C8"/>
                </a:solidFill>
                <a:latin typeface="Calibr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4919472"/>
            <a:ext cx="17922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Page Classification &amp; Dedup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539496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D6DF"/>
                </a:solidFill>
                <a:latin typeface="Calibri"/>
              </a:rPr>
              <a:t>Clean docs before 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19272" y="4754880"/>
            <a:ext cx="2706624" cy="137160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502152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A8C8"/>
                </a:solidFill>
                <a:latin typeface="Calibr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50792" y="4919472"/>
            <a:ext cx="17922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Missing Vitals / Lab Resolution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50792" y="539496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D6DF"/>
                </a:solidFill>
                <a:latin typeface="Calibri"/>
              </a:rPr>
              <a:t>Structured gap-filling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35624" y="4754880"/>
            <a:ext cx="2706624" cy="137160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318504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A8C8"/>
                </a:solidFill>
                <a:latin typeface="Calibr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67144" y="4919472"/>
            <a:ext cx="17922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User Behavior Deep Dive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67144" y="539496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D6DF"/>
                </a:solidFill>
                <a:latin typeface="Calibri"/>
              </a:rPr>
              <a:t>Chairside observation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1976" y="4754880"/>
            <a:ext cx="2706624" cy="137160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34856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A8C8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83496" y="4919472"/>
            <a:ext cx="17922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UX Enablement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83496" y="539496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D6DF"/>
                </a:solidFill>
                <a:latin typeface="Calibri"/>
              </a:rPr>
              <a:t>Surface insights, improve review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07 ·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GPT-4o → Gemini Vision · Page-by-Page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Switch LLM backbone from GPT-4o (OCR text in) to Gemini-1.5-pro-002 Vision (image in). Preserve the rest of the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06A77"/>
                </a:solidFill>
                <a:latin typeface="Calibri"/>
              </a:rPr>
              <a:t>CURRENT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11201400" cy="960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2267712"/>
            <a:ext cx="23774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6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222833"/>
                </a:solidFill>
                <a:latin typeface="Calibri"/>
              </a:rPr>
              <a:t>📄  Document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Faxed PDF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2610612.0"/>
            <a:ext cx="411480" cy="0.0"/>
          </a:xfrm>
          <a:prstGeom prst="line">
            <a:avLst/>
          </a:prstGeom>
          <a:ln w="25400">
            <a:solidFill>
              <a:srgbClr val="606A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2267712"/>
            <a:ext cx="23774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6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222833"/>
                </a:solidFill>
                <a:latin typeface="Calibri"/>
              </a:rPr>
              <a:t>🔤  OCR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Layout-based 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610612.0"/>
            <a:ext cx="411480" cy="0.0"/>
          </a:xfrm>
          <a:prstGeom prst="line">
            <a:avLst/>
          </a:prstGeom>
          <a:ln w="25400">
            <a:solidFill>
              <a:srgbClr val="606A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55080" y="2267712"/>
            <a:ext cx="23774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6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222833"/>
                </a:solidFill>
                <a:latin typeface="Calibri"/>
              </a:rPr>
              <a:t>🧠  GPT-4o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Azure OpenAI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20" y="2610612.0"/>
            <a:ext cx="411480" cy="0.0"/>
          </a:xfrm>
          <a:prstGeom prst="line">
            <a:avLst/>
          </a:prstGeom>
          <a:ln w="25400">
            <a:solidFill>
              <a:srgbClr val="606A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2267712"/>
            <a:ext cx="23774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6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222833"/>
                </a:solidFill>
                <a:latin typeface="Calibri"/>
              </a:rPr>
              <a:t>📋  Summary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QuickBase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UPDATED PIPELINE · Gemini Vision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11201400" cy="960120"/>
          </a:xfrm>
          <a:prstGeom prst="roundRect">
            <a:avLst/>
          </a:prstGeom>
          <a:solidFill>
            <a:srgbClr val="FD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3675888"/>
            <a:ext cx="91440" cy="96012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77240" y="3822192"/>
            <a:ext cx="23774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CC0000"/>
                </a:solidFill>
                <a:latin typeface="Calibri"/>
              </a:rPr>
              <a:t>📄  Document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Faxed PDF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54680" y="4165092.0"/>
            <a:ext cx="411480" cy="0.0"/>
          </a:xfrm>
          <a:prstGeom prst="line">
            <a:avLst/>
          </a:prstGeom>
          <a:ln w="2794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566160" y="3822192"/>
            <a:ext cx="23774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CC0000"/>
                </a:solidFill>
                <a:latin typeface="Calibri"/>
              </a:rPr>
              <a:t>🖼  Page Image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Per-page render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0" y="4165092.0"/>
            <a:ext cx="411480" cy="0.0"/>
          </a:xfrm>
          <a:prstGeom prst="line">
            <a:avLst/>
          </a:prstGeom>
          <a:ln w="2794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55080" y="3822192"/>
            <a:ext cx="23774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CC0000"/>
                </a:solidFill>
                <a:latin typeface="Calibri"/>
              </a:rPr>
              <a:t>👁  Gemini Vision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1.5-pro-002 · multimodal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32520" y="4165092.0"/>
            <a:ext cx="411480" cy="0.0"/>
          </a:xfrm>
          <a:prstGeom prst="line">
            <a:avLst/>
          </a:prstGeom>
          <a:ln w="2794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0" y="3822192"/>
            <a:ext cx="23774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CC0000"/>
                </a:solidFill>
                <a:latin typeface="Calibri"/>
              </a:rPr>
              <a:t>📋  Summary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QuickBase + citations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83480"/>
            <a:ext cx="3657600" cy="14630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02920" y="4983480"/>
            <a:ext cx="3657600" cy="32004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02920" y="5166360"/>
            <a:ext cx="3657600" cy="13716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2920" y="5029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WHY 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949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>
                <a:solidFill>
                  <a:srgbClr val="222833"/>
                </a:solidFill>
                <a:latin typeface="Calibri"/>
              </a:rPr>
              <a:t>•  Word position + layout context preserved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>
                <a:solidFill>
                  <a:srgbClr val="222833"/>
                </a:solidFill>
                <a:latin typeface="Calibri"/>
              </a:rPr>
              <a:t>•  Faxes that break OCR still parse cleanly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>
                <a:solidFill>
                  <a:srgbClr val="222833"/>
                </a:solidFill>
                <a:latin typeface="Calibri"/>
              </a:rPr>
              <a:t>•  Native PDF page handling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9392" y="4983480"/>
            <a:ext cx="3657600" cy="14630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279392" y="4983480"/>
            <a:ext cx="3657600" cy="3200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79392" y="5166360"/>
            <a:ext cx="3657600" cy="137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79392" y="5029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ECONOMICS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53949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>
                <a:solidFill>
                  <a:srgbClr val="222833"/>
                </a:solidFill>
                <a:latin typeface="Calibri"/>
              </a:rPr>
              <a:t>•  GPT-4o image: $0.001 / img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>
                <a:solidFill>
                  <a:srgbClr val="222833"/>
                </a:solidFill>
                <a:latin typeface="Calibri"/>
              </a:rPr>
              <a:t>•  Gemini Pro image: $0.0003 / img  (≈3× cheaper)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>
                <a:solidFill>
                  <a:srgbClr val="222833"/>
                </a:solidFill>
                <a:latin typeface="Calibri"/>
              </a:rPr>
              <a:t>•  Reduced OCR dependency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4" y="4983480"/>
            <a:ext cx="3657600" cy="14630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055864" y="4983480"/>
            <a:ext cx="3657600" cy="32004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055864" y="5166360"/>
            <a:ext cx="3657600" cy="13716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055864" y="5029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8744" y="53949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>
                <a:solidFill>
                  <a:srgbClr val="222833"/>
                </a:solidFill>
                <a:latin typeface="Calibri"/>
              </a:rPr>
              <a:t>•  95%+ summarization accuracy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>
                <a:solidFill>
                  <a:srgbClr val="222833"/>
                </a:solidFill>
                <a:latin typeface="Calibri"/>
              </a:rPr>
              <a:t>•  &lt;1% pipeline failure rate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>
                <a:solidFill>
                  <a:srgbClr val="222833"/>
                </a:solidFill>
                <a:latin typeface="Calibri"/>
              </a:rPr>
              <a:t>•  100K+ requests / day at scale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06A77"/>
                </a:solidFill>
                <a:latin typeface="Calibri"/>
              </a:rPr>
              <a:t>Evaluation: 3-way bake-off (GPT-4o OCR · GPT-4o image · Gemini Vision image) on 20 MD-reviewed cases.  UI/UX: no change.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07b ·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Inside the Pipeline · Page-by-Page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Each PDF page → Vision call → aggregated into one mini-document per source doc → mapped to fields with page citations.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828800" cy="1005840"/>
          </a:xfrm>
          <a:prstGeom prst="roundRect">
            <a:avLst/>
          </a:prstGeom>
          <a:solidFill>
            <a:srgbClr val="141822"/>
          </a:solidFill>
          <a:ln w="19050">
            <a:solidFill>
              <a:srgbClr val="1418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📄  Source PDF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0A8C8"/>
                </a:solidFill>
                <a:latin typeface="Calibri"/>
              </a:rPr>
              <a:t>ED Notes · 12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874520"/>
            <a:ext cx="1280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000" b="1">
                <a:solidFill>
                  <a:srgbClr val="005599"/>
                </a:solidFill>
                <a:latin typeface="Calibri"/>
              </a:rPr>
              <a:t>🖼  Page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40280"/>
            <a:ext cx="1280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000" b="1">
                <a:solidFill>
                  <a:srgbClr val="005599"/>
                </a:solidFill>
                <a:latin typeface="Calibri"/>
              </a:rPr>
              <a:t>🖼  Page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606040"/>
            <a:ext cx="1280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000" b="1">
                <a:solidFill>
                  <a:srgbClr val="005599"/>
                </a:solidFill>
                <a:latin typeface="Calibri"/>
              </a:rPr>
              <a:t>🖼  Page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971800"/>
            <a:ext cx="1280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000" b="1">
                <a:solidFill>
                  <a:srgbClr val="005599"/>
                </a:solidFill>
                <a:latin typeface="Calibri"/>
              </a:rPr>
              <a:t>🖼  Page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29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06A77"/>
                </a:solidFill>
                <a:latin typeface="Calibri"/>
              </a:rPr>
              <a:t>+ N more...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2423160"/>
            <a:ext cx="502920" cy="0"/>
          </a:xfrm>
          <a:prstGeom prst="line">
            <a:avLst/>
          </a:prstGeom>
          <a:ln w="22860">
            <a:solidFill>
              <a:srgbClr val="1418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2011680"/>
            <a:ext cx="2194560" cy="1463040"/>
          </a:xfrm>
          <a:prstGeom prst="roundRect">
            <a:avLst/>
          </a:prstGeom>
          <a:solidFill>
            <a:srgbClr val="FDF1F1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0" y="21214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CC0000"/>
                </a:solidFill>
                <a:latin typeface="Calibri"/>
              </a:rPr>
              <a:t>👁  GEMINI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222833"/>
                </a:solidFill>
                <a:latin typeface="Calibri"/>
              </a:rPr>
              <a:t>Per-page call · 2 extraction Qs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834640"/>
            <a:ext cx="18288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754880" y="28529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833"/>
                </a:solidFill>
                <a:latin typeface="Calibri"/>
              </a:rPr>
              <a:t>Q1: clinical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127248"/>
            <a:ext cx="18288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54880" y="31455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833"/>
                </a:solidFill>
                <a:latin typeface="Calibri"/>
              </a:rPr>
              <a:t>Q2: dates + references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125980.0"/>
            <a:ext cx="457200" cy="617220.0"/>
          </a:xfrm>
          <a:prstGeom prst="line">
            <a:avLst/>
          </a:prstGeom>
          <a:ln w="15240">
            <a:solidFill>
              <a:srgbClr val="005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14800" y="2491740.0"/>
            <a:ext cx="457200" cy="251460.0"/>
          </a:xfrm>
          <a:prstGeom prst="line">
            <a:avLst/>
          </a:prstGeom>
          <a:ln w="15240">
            <a:solidFill>
              <a:srgbClr val="005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14800" y="2743200"/>
            <a:ext cx="457200" cy="114300.0"/>
          </a:xfrm>
          <a:prstGeom prst="line">
            <a:avLst/>
          </a:prstGeom>
          <a:ln w="15240">
            <a:solidFill>
              <a:srgbClr val="005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114800" y="2743200"/>
            <a:ext cx="457200" cy="480060.0"/>
          </a:xfrm>
          <a:prstGeom prst="line">
            <a:avLst/>
          </a:prstGeom>
          <a:ln w="15240">
            <a:solidFill>
              <a:srgbClr val="005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0" y="2011680"/>
            <a:ext cx="2011680" cy="1463040"/>
          </a:xfrm>
          <a:prstGeom prst="roundRect">
            <a:avLst/>
          </a:prstGeom>
          <a:solidFill>
            <a:srgbClr val="141822"/>
          </a:solidFill>
          <a:ln w="19050">
            <a:solidFill>
              <a:srgbClr val="1418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🧩  AGGREGATION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00A8C8"/>
                </a:solidFill>
                <a:latin typeface="Calibri"/>
              </a:rPr>
              <a:t>1 mini-document
per source doc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60" y="2743200"/>
            <a:ext cx="548640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75520" y="201168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100" b="1">
                <a:solidFill>
                  <a:srgbClr val="005599"/>
                </a:solidFill>
                <a:latin typeface="Calibri"/>
              </a:rPr>
              <a:t>🗺  MAPPING +
PARSER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Field assignment
Page citations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6880" y="2743200"/>
            <a:ext cx="548640" cy="0"/>
          </a:xfrm>
          <a:prstGeom prst="line">
            <a:avLst/>
          </a:prstGeom>
          <a:ln w="25400">
            <a:solidFill>
              <a:srgbClr val="1418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4114800"/>
            <a:ext cx="11201400" cy="14630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02920" y="4114800"/>
            <a:ext cx="109728" cy="14630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42245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libri"/>
              </a:rPr>
              <a:t>📋  STRUCTURED OUTPUT  →  QuickBase template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754880"/>
            <a:ext cx="2651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77240" y="4754880"/>
            <a:ext cx="54864" cy="685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41832" y="4828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2833"/>
                </a:solidFill>
                <a:latin typeface="Calibri"/>
              </a:rPr>
              <a:t>HPI / CC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" y="5120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06A77"/>
                </a:solidFill>
                <a:latin typeface="Calibri"/>
              </a:rPr>
              <a:t>1 field · cited page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4754880"/>
            <a:ext cx="2651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474720" y="4754880"/>
            <a:ext cx="54864" cy="685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39312" y="4828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2833"/>
                </a:solidFill>
                <a:latin typeface="Calibri"/>
              </a:rPr>
              <a:t>ED 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5120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06A77"/>
                </a:solidFill>
                <a:latin typeface="Calibri"/>
              </a:rPr>
              <a:t>12 fields · cited pages 1–4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754880"/>
            <a:ext cx="2651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172200" y="4754880"/>
            <a:ext cx="54864" cy="685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36792" y="4828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2833"/>
                </a:solidFill>
                <a:latin typeface="Calibri"/>
              </a:rPr>
              <a:t>Clinical Summary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5120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06A77"/>
                </a:solidFill>
                <a:latin typeface="Calibri"/>
              </a:rPr>
              <a:t>8 fields · cited pages 5–10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4754880"/>
            <a:ext cx="2651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869680" y="4754880"/>
            <a:ext cx="54864" cy="685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34272" y="4828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2833"/>
                </a:solidFill>
                <a:latin typeface="Calibri"/>
              </a:rPr>
              <a:t>PMH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5120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06A77"/>
                </a:solidFill>
                <a:latin typeface="Calibri"/>
              </a:rPr>
              <a:t>5 fields · cited pages 2,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806440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1822"/>
                </a:solidFill>
                <a:latin typeface="Calibri"/>
              </a:rPr>
              <a:t>ENGINEERING CHANGE SCOPE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6126480"/>
            <a:ext cx="2286000" cy="41148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Extraction Qs update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80360" y="6126480"/>
            <a:ext cx="2286000" cy="41148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Aggregation + mapping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57800" y="6126480"/>
            <a:ext cx="2286000" cy="41148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Prompt + parser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35240" y="6126480"/>
            <a:ext cx="2286000" cy="411480"/>
          </a:xfrm>
          <a:prstGeom prst="roundRect">
            <a:avLst/>
          </a:prstGeom>
          <a:solidFill>
            <a:srgbClr val="606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Non-LLM header/footer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12680" y="6126480"/>
            <a:ext cx="1691640" cy="4114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UI: no change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08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Phased Accuracy Improvement · May →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Each phase compounds the last. Baseline (Jan–Apr '26): 460 👍 / 439 👎 from 268 unique cases.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12848"/>
            <a:ext cx="11201400" cy="54864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691640" y="2103120"/>
            <a:ext cx="329184" cy="3291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91640" y="2121408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2706624" cy="3291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2706624" cy="41148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2706624" cy="1828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2920" y="277063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MAY '26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Calibri"/>
              </a:rPr>
              <a:t>Doc-Reference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Calibri"/>
              </a:rPr>
              <a:t>Backend fuzzy-match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23408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Recovers 1,714 / 1,762 historical failures (~97%). No prompt/model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303520"/>
            <a:ext cx="2340864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5367528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C0000"/>
                </a:solidFill>
                <a:latin typeface="Calibri"/>
              </a:rPr>
              <a:t>LIFT  ~31%</a:t>
            </a:r>
          </a:p>
        </p:txBody>
      </p:sp>
      <p:sp>
        <p:nvSpPr>
          <p:cNvPr id="19" name="Oval 18"/>
          <p:cNvSpPr/>
          <p:nvPr/>
        </p:nvSpPr>
        <p:spPr>
          <a:xfrm>
            <a:off x="4517136" y="2103120"/>
            <a:ext cx="329184" cy="329184"/>
          </a:xfrm>
          <a:prstGeom prst="ellipse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17136" y="2121408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6" y="2697480"/>
            <a:ext cx="2706624" cy="3291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328416" y="2697480"/>
            <a:ext cx="2706624" cy="41148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328416" y="2926080"/>
            <a:ext cx="2706624" cy="18288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328416" y="277063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JUN '26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3246120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Calibri"/>
              </a:rPr>
              <a:t>Prompt +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1296" y="361188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Calibri"/>
              </a:rPr>
              <a:t>Prompt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3977640"/>
            <a:ext cx="23408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Date logic (planned vs actual), administered vs ordered meds, patient anchoring.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11296" y="5303520"/>
            <a:ext cx="2340864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5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328416" y="5367528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5599"/>
                </a:solidFill>
                <a:latin typeface="Calibri"/>
              </a:rPr>
              <a:t>LIFT  ~44%</a:t>
            </a:r>
          </a:p>
        </p:txBody>
      </p:sp>
      <p:sp>
        <p:nvSpPr>
          <p:cNvPr id="30" name="Oval 29"/>
          <p:cNvSpPr/>
          <p:nvPr/>
        </p:nvSpPr>
        <p:spPr>
          <a:xfrm>
            <a:off x="7342632" y="2103120"/>
            <a:ext cx="329184" cy="329184"/>
          </a:xfrm>
          <a:prstGeom prst="ellipse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42632" y="2121408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2697480"/>
            <a:ext cx="2706624" cy="3291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153912" y="2697480"/>
            <a:ext cx="2706624" cy="411480"/>
          </a:xfrm>
          <a:prstGeom prst="round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53912" y="2926080"/>
            <a:ext cx="2706624" cy="182880"/>
          </a:xfrm>
          <a:prstGeom prst="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153912" y="277063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AUG '26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3246120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Calibri"/>
              </a:rPr>
              <a:t>Page Classification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361188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Calibri"/>
              </a:rPr>
              <a:t>ML pre-processing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977640"/>
            <a:ext cx="23408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Filters duplicate / irrelevant pages before the LLM sees content.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36792" y="5303520"/>
            <a:ext cx="2340864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4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153912" y="5367528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4BA8"/>
                </a:solidFill>
                <a:latin typeface="Calibri"/>
              </a:rPr>
              <a:t>LIFT  ~30%</a:t>
            </a:r>
          </a:p>
        </p:txBody>
      </p:sp>
      <p:sp>
        <p:nvSpPr>
          <p:cNvPr id="41" name="Oval 40"/>
          <p:cNvSpPr/>
          <p:nvPr/>
        </p:nvSpPr>
        <p:spPr>
          <a:xfrm>
            <a:off x="10168128" y="2103120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168128" y="2121408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79408" y="2697480"/>
            <a:ext cx="2706624" cy="3291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8979408" y="2697480"/>
            <a:ext cx="2706624" cy="4114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979408" y="2926080"/>
            <a:ext cx="2706624" cy="1828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979408" y="277063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OCT '26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3246120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Calibri"/>
              </a:rPr>
              <a:t>Model Upgrade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2288" y="361188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Calibri"/>
              </a:rPr>
              <a:t>Foundation model refresh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2288" y="3977640"/>
            <a:ext cx="23408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833"/>
                </a:solidFill>
                <a:latin typeface="Calibri"/>
              </a:rPr>
              <a:t>Gemini 3.1 — long-context, lower hallucination, compounding lift.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62288" y="5303520"/>
            <a:ext cx="2340864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979408" y="5367528"/>
            <a:ext cx="2706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Calibri"/>
              </a:rPr>
              <a:t>LIFT  95%+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26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A77"/>
                </a:solidFill>
                <a:latin typeface="Calibri"/>
              </a:rPr>
              <a:t>CUMULATIVE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94560" y="6300216"/>
            <a:ext cx="7772400" cy="201168"/>
          </a:xfrm>
          <a:prstGeom prst="round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2194560" y="6300216"/>
            <a:ext cx="1828800" cy="201168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4023360" y="6300216"/>
            <a:ext cx="2743200" cy="201168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6766560" y="6300216"/>
            <a:ext cx="2011680" cy="201168"/>
          </a:xfrm>
          <a:prstGeom prst="round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8778240" y="6300216"/>
            <a:ext cx="1188720" cy="20116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149840" y="626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libri"/>
              </a:rPr>
              <a:t>→ 95%+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09 ·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Agentic AI · Next-Gen Modular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Root orchestrator + modular agents.  Same pattern for IP, SNF, Spine — different components per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A77"/>
                </a:solidFill>
                <a:latin typeface="Calibri"/>
              </a:rPr>
              <a:t>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920240" cy="731520"/>
          </a:xfrm>
          <a:prstGeom prst="roundRect">
            <a:avLst/>
          </a:prstGeom>
          <a:solidFill>
            <a:srgbClr val="141822"/>
          </a:solidFill>
          <a:ln w="19050">
            <a:solidFill>
              <a:srgbClr val="1418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📄  Clinical Docs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0A8C8"/>
                </a:solidFill>
                <a:latin typeface="Calibri"/>
              </a:rPr>
              <a:t>PDFs · faxes · EMR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43200"/>
            <a:ext cx="1920240" cy="731520"/>
          </a:xfrm>
          <a:prstGeom prst="roundRect">
            <a:avLst/>
          </a:prstGeom>
          <a:solidFill>
            <a:srgbClr val="141822"/>
          </a:solidFill>
          <a:ln w="19050">
            <a:solidFill>
              <a:srgbClr val="1418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📑  MCG Criteria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00A8C8"/>
                </a:solidFill>
                <a:latin typeface="Calibri"/>
              </a:rPr>
              <a:t>Unstructured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06A77"/>
                </a:solidFill>
                <a:latin typeface="Calibri"/>
              </a:rPr>
              <a:t>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91640"/>
            <a:ext cx="2743200" cy="685800"/>
          </a:xfrm>
          <a:prstGeom prst="roundRect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🎯  ROOT ORCHESTRATOR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FCCCC"/>
                </a:solidFill>
                <a:latin typeface="Calibri"/>
              </a:rPr>
              <a:t>Agent coordination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743200"/>
            <a:ext cx="8942832" cy="1417320"/>
          </a:xfrm>
          <a:prstGeom prst="round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0360" y="28163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3A6B"/>
                </a:solidFill>
                <a:latin typeface="Calibri"/>
              </a:rPr>
              <a:t>1 · RETRIEVE CLINICAL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127248"/>
            <a:ext cx="2880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100" b="1">
                <a:solidFill>
                  <a:srgbClr val="005599"/>
                </a:solidFill>
                <a:latin typeface="Calibri"/>
              </a:rPr>
              <a:t>📚  Document
Organizer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Gemini 2.5 Flash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3127248"/>
            <a:ext cx="2880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100" b="1">
                <a:solidFill>
                  <a:srgbClr val="005599"/>
                </a:solidFill>
                <a:latin typeface="Calibri"/>
              </a:rPr>
              <a:t>🔍  Clinical
Extraction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Gemini 2.5 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127248"/>
            <a:ext cx="2880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100" b="1">
                <a:solidFill>
                  <a:srgbClr val="005599"/>
                </a:solidFill>
                <a:latin typeface="Calibri"/>
              </a:rPr>
              <a:t>🧭  RAG Context
Retrieval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Gemini 2.0 Flash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4297680"/>
            <a:ext cx="8942832" cy="1417320"/>
          </a:xfrm>
          <a:prstGeom prst="roundRect">
            <a:avLst/>
          </a:prstGeom>
          <a:solidFill>
            <a:srgbClr val="FD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80360" y="43708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0000"/>
                </a:solidFill>
                <a:latin typeface="Calibri"/>
              </a:rPr>
              <a:t>2 · DECISION MAKING + RESULTS SUMMARIZATION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4681728"/>
            <a:ext cx="2121408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📊  Criteria
Summarizer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Gemini 2.5 Flash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4681728"/>
            <a:ext cx="2121408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⚖️  Decision
Agent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Gemini 2.0 Flash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6" y="4681728"/>
            <a:ext cx="2121408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🧮  Decision
Aggregator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Rule-based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4624" y="4681728"/>
            <a:ext cx="2121408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100" b="1">
                <a:solidFill>
                  <a:srgbClr val="CC0000"/>
                </a:solidFill>
                <a:latin typeface="Calibri"/>
              </a:rPr>
              <a:t>📝  Rationale
Agent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Gemini 2.0 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A77"/>
                </a:solidFill>
                <a:latin typeface="Calibri"/>
              </a:rPr>
              <a:t>STRUCTURE CRITERIA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40480"/>
            <a:ext cx="19202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200" b="1">
                <a:solidFill>
                  <a:srgbClr val="6B4BA8"/>
                </a:solidFill>
                <a:latin typeface="Calibri"/>
              </a:rPr>
              <a:t>🔧  Criteria
Decomposer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06A77"/>
                </a:solidFill>
                <a:latin typeface="Calibri"/>
              </a:rPr>
              <a:t>Gemini 2.0 Flash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423160" y="2057400"/>
            <a:ext cx="2331720" cy="137160"/>
          </a:xfrm>
          <a:prstGeom prst="line">
            <a:avLst/>
          </a:prstGeom>
          <a:ln w="25400">
            <a:solidFill>
              <a:srgbClr val="1418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423160" y="3584448"/>
            <a:ext cx="502920" cy="713232"/>
          </a:xfrm>
          <a:prstGeom prst="line">
            <a:avLst/>
          </a:prstGeom>
          <a:ln w="25400">
            <a:solidFill>
              <a:srgbClr val="6B4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26480.0" y="2377440"/>
            <a:ext cx="0.0" cy="36576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4160520"/>
            <a:ext cx="0" cy="137160"/>
          </a:xfrm>
          <a:prstGeom prst="line">
            <a:avLst/>
          </a:prstGeom>
          <a:ln w="25400">
            <a:solidFill>
              <a:srgbClr val="1418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5852160"/>
            <a:ext cx="11201400" cy="59436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961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OUTPUT  →  ⚡ Atomic decision  ·  📌 Cited evidence  ·  📝 Rationale  ·  ✅ Final case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09b ·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Same Pattern, Different Shape · IP vs SNF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Both pipelines follow the same agentic pattern. Differences drive open decisions on framework, cost, and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86400" cy="54864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8928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INPATIENT ACUTE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5486400" cy="548640"/>
          </a:xfrm>
          <a:prstGeom prst="round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55080" y="18928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SNF (Post-Acute)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468880"/>
            <a:ext cx="822960" cy="59436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0" y="261518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68880"/>
            <a:ext cx="48920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6151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Existing Gemini summary + RAG vector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468880"/>
            <a:ext cx="53492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0" y="26151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Built from scratch · document structurer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118104"/>
            <a:ext cx="822960" cy="59436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0" y="326440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18104"/>
            <a:ext cx="48920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32644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Decomposer for 20+ diagnoses (MCG)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18104"/>
            <a:ext cx="53492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0" y="3264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Fixed 1 criteria set (simpler)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3767328"/>
            <a:ext cx="822960" cy="59436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0" y="391363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FRONT-END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67328"/>
            <a:ext cx="48920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39136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Dynamic UI by diagnosis · rationale display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767328"/>
            <a:ext cx="53492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0" y="39136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Static UI from back-end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4416552"/>
            <a:ext cx="822960" cy="59436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0" y="456285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416552"/>
            <a:ext cx="48920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31520" y="456285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LangChain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416552"/>
            <a:ext cx="53492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0" y="45628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Google ADK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5065776"/>
            <a:ext cx="822960" cy="59436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0" y="5212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48920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Gemini 2.0 Flash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5065776"/>
            <a:ext cx="53492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Gemini 2.5 Flash + thinking budget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0" y="5715000"/>
            <a:ext cx="822960" cy="59436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486400" y="586130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715000"/>
            <a:ext cx="48920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31520" y="58613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~3–5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5715000"/>
            <a:ext cx="5349240" cy="5943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0" y="586130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833"/>
                </a:solidFill>
                <a:latin typeface="Calibri"/>
              </a:rPr>
              <a:t>~10 min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897880"/>
            <a:ext cx="11201400" cy="685800"/>
          </a:xfrm>
          <a:prstGeom prst="round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5971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OPEN DECISIONS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22706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Framework alignment (LangChain vs Google ADK)  ·  Cost + latency at scale  ·  Single generalized pipeline vs two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10 · THE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Each Phase Was Possible Because of the Last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776472" cy="4297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776472" cy="45720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776472" cy="18288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 ·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32278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22833"/>
                </a:solidFill>
                <a:latin typeface="Calibri"/>
              </a:rPr>
              <a:t>Clinical Document</a:t>
            </a:r>
          </a:p>
          <a:p>
            <a:pPr algn="l"/>
            <a:r>
              <a:rPr sz="2400" b="1" i="0">
                <a:solidFill>
                  <a:srgbClr val="222833"/>
                </a:solidFill>
                <a:latin typeface="Calibri"/>
              </a:rPr>
              <a:t>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322783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Unified per-case viewer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Cross-document search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→ DATA foundation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554480"/>
            <a:ext cx="3776472" cy="4297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325112" y="1554480"/>
            <a:ext cx="3776472" cy="45720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776472" cy="1828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25112" y="1664208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 ·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194560"/>
            <a:ext cx="32278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22833"/>
                </a:solidFill>
                <a:latin typeface="Calibri"/>
              </a:rPr>
              <a:t>CDST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566160"/>
            <a:ext cx="322783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AI summarization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Field auto-population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In-app feedback loop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→ TRUST foundation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554480"/>
            <a:ext cx="3776472" cy="4297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147304" y="1554480"/>
            <a:ext cx="3776472" cy="4572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47304" y="1828800"/>
            <a:ext cx="3776472" cy="1828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47304" y="1664208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 · Q3/Q4 '26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194560"/>
            <a:ext cx="32278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22833"/>
                </a:solidFill>
                <a:latin typeface="Calibri"/>
              </a:rPr>
              <a:t>Agentic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566160"/>
            <a:ext cx="322783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Criteria-aware agents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Cited evidence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Decision recommendations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22833"/>
                </a:solidFill>
                <a:latin typeface="Calibri"/>
              </a:rPr>
              <a:t>•  → Nurse = DECISION-VALIDATOR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33672" y="3703320.0"/>
            <a:ext cx="137160" cy="0.0"/>
          </a:xfrm>
          <a:prstGeom prst="line">
            <a:avLst/>
          </a:prstGeom>
          <a:ln w="31750">
            <a:solidFill>
              <a:srgbClr val="1418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55864" y="3703320.0"/>
            <a:ext cx="137160" cy="0.0"/>
          </a:xfrm>
          <a:prstGeom prst="line">
            <a:avLst/>
          </a:prstGeom>
          <a:ln w="31750">
            <a:solidFill>
              <a:srgbClr val="1418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2920" y="617220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Same co-pilot principle, expanding scope. Human clinical judgment always retained.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11 · HOW I USE AI PERSONALLY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It's Not Just the Product · It's How I Work Every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06A77"/>
                </a:solidFill>
                <a:latin typeface="Calibri"/>
              </a:rPr>
              <a:t>Same principle as CDST — AI accelerates, I decide. Here's my personal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212848" cy="3657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212848" cy="109728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1792224"/>
            <a:ext cx="2212848" cy="7315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41822"/>
                </a:solidFill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CC0000"/>
                </a:solidFill>
                <a:latin typeface="Calibri"/>
              </a:rPr>
              <a:t>USE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22833"/>
                </a:solidFill>
                <a:latin typeface="Calibri"/>
              </a:rPr>
              <a:t>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3520440"/>
            <a:ext cx="749808" cy="1828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BigQuery pulls, feedback bucketing, edit-pattern detection.</a:t>
            </a:r>
          </a:p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AI does the heavy lifting; I bring the hypothesis &amp; spot-audit.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1488" y="1737360"/>
            <a:ext cx="2212848" cy="3657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761488" y="1737360"/>
            <a:ext cx="2212848" cy="109728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761488" y="1792224"/>
            <a:ext cx="2212848" cy="73152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61488" y="20116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41822"/>
                </a:solidFill>
                <a:latin typeface="Calibr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69748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5599"/>
                </a:solidFill>
                <a:latin typeface="Calibri"/>
              </a:rPr>
              <a:t>USE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297180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22833"/>
                </a:solidFill>
                <a:latin typeface="Calibri"/>
              </a:rPr>
              <a:t>PowerPoint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3520440"/>
            <a:ext cx="749808" cy="18288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44368" y="365760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From CSV to stakeholder-ready deck in one prompt.</a:t>
            </a:r>
          </a:p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No designer, no template wrestling — just the 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0056" y="1737360"/>
            <a:ext cx="2212848" cy="3657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020056" y="1737360"/>
            <a:ext cx="2212848" cy="109728"/>
          </a:xfrm>
          <a:prstGeom prst="round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020056" y="1792224"/>
            <a:ext cx="2212848" cy="73152"/>
          </a:xfrm>
          <a:prstGeom prst="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20056" y="20116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41822"/>
                </a:solidFill>
                <a:latin typeface="Calibri"/>
              </a:rPr>
              <a:t>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269748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6B4BA8"/>
                </a:solidFill>
                <a:latin typeface="Calibri"/>
              </a:rPr>
              <a:t>USE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0056" y="297180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22833"/>
                </a:solidFill>
                <a:latin typeface="Calibri"/>
              </a:rPr>
              <a:t>Create Apps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51576" y="3520440"/>
            <a:ext cx="749808" cy="18288"/>
          </a:xfrm>
          <a:prstGeom prst="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02936" y="365760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Streamlit dashboards, internal tools, prototypes.</a:t>
            </a:r>
          </a:p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Ship a feedback dashboard in a day instead of a sprint.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78624" y="1737360"/>
            <a:ext cx="2212848" cy="3657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7278624" y="1737360"/>
            <a:ext cx="2212848" cy="109728"/>
          </a:xfrm>
          <a:prstGeom prst="round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278624" y="1792224"/>
            <a:ext cx="2212848" cy="7315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278624" y="20116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41822"/>
                </a:solidFill>
                <a:latin typeface="Calibri"/>
              </a:rPr>
              <a:t>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8624" y="269748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4A300"/>
                </a:solidFill>
                <a:latin typeface="Calibri"/>
              </a:rPr>
              <a:t>USE 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8624" y="297180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22833"/>
                </a:solidFill>
                <a:latin typeface="Calibri"/>
              </a:rPr>
              <a:t>Build Artifacts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0144" y="3520440"/>
            <a:ext cx="749808" cy="18288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461504" y="365760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Excel trackers, Word reports, FRDs, mock UIs, diagrams.</a:t>
            </a:r>
          </a:p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The plumbing every PM owes their team — without the wait.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37192" y="1737360"/>
            <a:ext cx="2212848" cy="3657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537192" y="1737360"/>
            <a:ext cx="2212848" cy="1097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537192" y="1792224"/>
            <a:ext cx="2212848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537192" y="20116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41822"/>
                </a:solidFill>
                <a:latin typeface="Calibri"/>
              </a:rPr>
              <a:t>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37192" y="269748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E8B57"/>
                </a:solidFill>
                <a:latin typeface="Calibri"/>
              </a:rPr>
              <a:t>USE 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7192" y="297180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22833"/>
                </a:solidFill>
                <a:latin typeface="Calibri"/>
              </a:rPr>
              <a:t>Hermes 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68712" y="3520440"/>
            <a:ext cx="749808" cy="1828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720072" y="365760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Daily standup in my inbox. Pipeline status, feedback delta,</a:t>
            </a:r>
          </a:p>
          <a:p>
            <a:pPr algn="ctr"/>
            <a:r>
              <a:rPr sz="1000" b="0" i="0">
                <a:solidFill>
                  <a:srgbClr val="222833"/>
                </a:solidFill>
                <a:latin typeface="Calibri"/>
              </a:rPr>
              <a:t>what shipped, what broke — auto-summarized while I sleep.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577840"/>
            <a:ext cx="11201400" cy="777240"/>
          </a:xfrm>
          <a:prstGeom prst="round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02920" y="5577840"/>
            <a:ext cx="109728" cy="777240"/>
          </a:xfrm>
          <a:prstGeom prst="rect">
            <a:avLst/>
          </a:prstGeom>
          <a:solidFill>
            <a:srgbClr val="00A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69671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A8C8"/>
                </a:solidFill>
                <a:latin typeface="Calibri"/>
              </a:rPr>
              <a:t>Zero tickets filed. Zero meetings about meetings.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I run my own data, draft my own artifacts, and ship my own analysis — so DS &amp; Eng can build, not export.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12 ·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822"/>
                </a:solidFill>
                <a:latin typeface="Calibri"/>
              </a:rPr>
              <a:t>What to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777240" cy="82296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417320"/>
            <a:ext cx="10287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45920" y="1536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833"/>
                </a:solidFill>
                <a:latin typeface="Calibri"/>
              </a:rPr>
              <a:t>The healthcare problem is hard.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2.26M cases · $250M admin · faxed PDFs · CMS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40"/>
            <a:ext cx="777240" cy="822960"/>
          </a:xfrm>
          <a:prstGeom prst="round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377440"/>
            <a:ext cx="10287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645920" y="24963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833"/>
                </a:solidFill>
                <a:latin typeface="Calibri"/>
              </a:rPr>
              <a:t>AI works when it serves the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CDST is a co-pilot · 95% adoption · 15–20% time saved · $16M SAI.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777240" cy="822960"/>
          </a:xfrm>
          <a:prstGeom prst="roundRect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2920" y="3502152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3337560"/>
            <a:ext cx="10287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645920" y="34564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833"/>
                </a:solidFill>
                <a:latin typeface="Calibri"/>
              </a:rPr>
              <a:t>The technical path is clear.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Page-by-page Gemini Vision · ML pre-processing · prompts · model upgrades.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97680"/>
            <a:ext cx="777240" cy="822960"/>
          </a:xfrm>
          <a:prstGeom prst="round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" y="4462272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297680"/>
            <a:ext cx="10287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645920" y="44165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833"/>
                </a:solidFill>
                <a:latin typeface="Calibri"/>
              </a:rPr>
              <a:t>The hard part is human.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UX · trust · edit patterns · chairside observation · per-form strategy.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57800"/>
            <a:ext cx="777240" cy="8229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2920" y="5422392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5257800"/>
            <a:ext cx="10287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645920" y="53766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833"/>
                </a:solidFill>
                <a:latin typeface="Calibri"/>
              </a:rPr>
              <a:t>Agentic is next.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715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06A77"/>
                </a:solidFill>
                <a:latin typeface="Calibri"/>
              </a:rPr>
              <a:t>Modular components · decision agents · only possible because we earned trust first.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06A77"/>
                </a:solidFill>
                <a:latin typeface="Calibri"/>
              </a:rPr>
              <a:t>UM × AI · Internal · Draft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06A77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